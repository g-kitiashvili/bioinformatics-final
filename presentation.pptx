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62E20E-B853-4723-B18D-84C36B552D1F}">
  <a:tblStyle styleId="{9862E20E-B853-4723-B18D-84C36B552D1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457200" y="2286000"/>
            <a:ext cx="82296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ფილტვის კიბოს ტიპების კლასიფიკაცია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457200" y="3657600"/>
            <a:ext cx="8229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LUAD vs LUSC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მანქანური სწავლების გამოყენებით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/>
        </p:nvSpPr>
        <p:spPr>
          <a:xfrm>
            <a:off x="457200" y="27432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პრობლემის აღწერა: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457200" y="1097280"/>
            <a:ext cx="8229600" cy="50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ფილტვის კიბო არის სიკვდილიანობის წამყვანი მიზეზი (1.8 მილიონი წელიწადში)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ფილტვის კიბოს ორი მთავარი ტიპი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LUAD (Lung Adenocarcinoma) -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შემთხვევების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40% 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LUSC (Lung Squamous Cell Carcinoma) -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შემთხვევების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25-30%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ტიპების გარჩევადობის კლინიკური მნიშვნელობა: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სხვადასხვა მკურნალობის მეთოდი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(EGFR/ALK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inhibitors for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LUAD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only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Bevacizumab contraindicated in LUSC (hemorrhage risk)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სხვადასხვა პროგნოზი და მეთოდოლოგიის საჭიროება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/>
        </p:nvSpPr>
        <p:spPr>
          <a:xfrm>
            <a:off x="457200" y="27432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გამოსაკვლევი კითხვა და ჰიპოთეზა</a:t>
            </a:r>
            <a:endParaRPr/>
          </a:p>
        </p:txBody>
      </p:sp>
      <p:sp>
        <p:nvSpPr>
          <p:cNvPr id="97" name="Google Shape;97;p15"/>
          <p:cNvSpPr txBox="1"/>
          <p:nvPr/>
        </p:nvSpPr>
        <p:spPr>
          <a:xfrm>
            <a:off x="457200" y="1412552"/>
            <a:ext cx="82296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კითხვა: შეუძლია თუ არა მანქანურ სწავლებას გააკეთოს კლასიფიკაცია გენური ექსპრესიის მიხედვით?</a:t>
            </a:r>
            <a:endParaRPr sz="18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ჰიპოთეზა: PMC7909418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ფეიფერის მიხედვით, ეს ხერხი იმუშავებს 90%-ით ან მეტით.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მიდგომა: გავამეოროთ ორიგინალი კვლევის შედეგი და შემდეგ განვავრცოთ ფილტვის კიბოზე.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/>
        </p:nvSpPr>
        <p:spPr>
          <a:xfrm>
            <a:off x="457200" y="27432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მეთოდოლოგია</a:t>
            </a:r>
            <a:endParaRPr/>
          </a:p>
        </p:txBody>
      </p:sp>
      <p:sp>
        <p:nvSpPr>
          <p:cNvPr id="103" name="Google Shape;103;p16"/>
          <p:cNvSpPr txBox="1"/>
          <p:nvPr/>
        </p:nvSpPr>
        <p:spPr>
          <a:xfrm>
            <a:off x="457200" y="1097280"/>
            <a:ext cx="8229600" cy="4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მონაცემები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TCGA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გენური ექსპრესიის ატლასი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(UCSC Xena)</a:t>
            </a:r>
            <a:endParaRPr/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1,017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მაგალითი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(515 LUAD, 502 LUSC), 20,530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გენი ჯამში</a:t>
            </a:r>
            <a:endParaRPr/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 Selection: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დიფერენციალური ექსპრესიის ანალიზი</a:t>
            </a:r>
            <a:endParaRPr/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t-test FDR correction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-ით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|log2FC| &gt; 1</a:t>
            </a:r>
            <a:endParaRPr/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2,843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მნიშვნელოვანი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DEGs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აღმოვაჩინეთ სატრენინგო მონაცემში.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მოდელები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SVM, KNN, Naive Bayes, Decision Tree, Random Forest</a:t>
            </a:r>
            <a:endParaRPr/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ევალუაცია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90/10 train/test split, 10-fold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კროს ვალიდაცია</a:t>
            </a:r>
            <a:endParaRPr/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მეტრიკები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Accuracy, Precision, Recall, F1, AUC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/>
        </p:nvSpPr>
        <p:spPr>
          <a:xfrm>
            <a:off x="457200" y="274325"/>
            <a:ext cx="8618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შედეგები</a:t>
            </a:r>
            <a:r>
              <a:rPr b="1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ფილტვის კიბოს კლასიფიკაცია</a:t>
            </a:r>
            <a:endParaRPr sz="1000"/>
          </a:p>
        </p:txBody>
      </p:sp>
      <p:graphicFrame>
        <p:nvGraphicFramePr>
          <p:cNvPr id="109" name="Google Shape;109;p17"/>
          <p:cNvGraphicFramePr/>
          <p:nvPr/>
        </p:nvGraphicFramePr>
        <p:xfrm>
          <a:off x="45720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{9862E20E-B853-4723-B18D-84C36B552D1F}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N_Genes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SVM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KNN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Naive Bayes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Decision Tree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Random Forest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256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96.08%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97.06%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98.04%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95.10%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96.08%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512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96.08%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95.10%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97.06%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96.08%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96.08%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1024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97.06%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97.06%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96.08%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94.12%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97.06%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/>
        </p:nvSpPr>
        <p:spPr>
          <a:xfrm>
            <a:off x="457200" y="27432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საუკეთესო შედეგი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98.04% 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სიზუსტე</a:t>
            </a:r>
            <a:endParaRPr/>
          </a:p>
        </p:txBody>
      </p:sp>
      <p:sp>
        <p:nvSpPr>
          <p:cNvPr id="115" name="Google Shape;115;p18"/>
          <p:cNvSpPr txBox="1"/>
          <p:nvPr/>
        </p:nvSpPr>
        <p:spPr>
          <a:xfrm>
            <a:off x="457200" y="1097280"/>
            <a:ext cx="8229600" cy="50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მოდელი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Naive Bayes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გენების რაოდენობა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256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მეტრიკები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Accuracy: 98.04%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F1 Score: 97.96%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AUC: 0.9892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Cross-validation: 94.97%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გარე ვალიდაცია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SVM, KNN, NB, RF: 94.61% accuracy (AUC up to 0.987)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ROC Curves (256 genes)</a:t>
            </a:r>
            <a:endParaRPr/>
          </a:p>
        </p:txBody>
      </p:sp>
      <p:pic>
        <p:nvPicPr>
          <p:cNvPr descr="roc_curves_256genes.png" id="121" name="Google Shape;12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914400"/>
            <a:ext cx="7315200" cy="58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classifiers achieve AUC &gt; 0.98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/>
        </p:nvSpPr>
        <p:spPr>
          <a:xfrm>
            <a:off x="457200" y="27432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ორიგინალი ფეიფერის რეპროდუქცია</a:t>
            </a:r>
            <a:endParaRPr/>
          </a:p>
        </p:txBody>
      </p:sp>
      <p:graphicFrame>
        <p:nvGraphicFramePr>
          <p:cNvPr id="128" name="Google Shape;128;p20"/>
          <p:cNvGraphicFramePr/>
          <p:nvPr/>
        </p:nvGraphicFramePr>
        <p:xfrm>
          <a:off x="457188" y="28864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{9862E20E-B853-4723-B18D-84C36B552D1F}</a:tableStyleId>
              </a:tblPr>
              <a:tblGrid>
                <a:gridCol w="1645925"/>
                <a:gridCol w="1645925"/>
                <a:gridCol w="1645925"/>
                <a:gridCol w="1645925"/>
                <a:gridCol w="164592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N_Genes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SVM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KNN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Naive Bayes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Decision Tree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256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93.58%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93.58%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91.74%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88.99%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512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94.50%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94.50%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90.83%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85.32%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1024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94.50%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95.41%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90.83%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89.91%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/>
        </p:nvSpPr>
        <p:spPr>
          <a:xfrm>
            <a:off x="457200" y="274320"/>
            <a:ext cx="82296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ორიგინალის შედარება მიღებულ შედეგთან</a:t>
            </a:r>
            <a:endParaRPr/>
          </a:p>
        </p:txBody>
      </p:sp>
      <p:graphicFrame>
        <p:nvGraphicFramePr>
          <p:cNvPr id="134" name="Google Shape;134;p21"/>
          <p:cNvGraphicFramePr/>
          <p:nvPr/>
        </p:nvGraphicFramePr>
        <p:xfrm>
          <a:off x="457200" y="21156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{9862E20E-B853-4723-B18D-84C36B552D1F}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77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Metric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Original Paper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Our Reproduction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Our Lung Cancer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29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Cancer Type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Breast (TNBC)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Breast (TNBC)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Lung (LUAD/LUSC)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29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Samples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934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1,082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1,017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29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Significant DEGs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5,502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2,318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2,843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29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Best Accuracy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90.0%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96.3%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98.04%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29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SVM (256 genes)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90.0%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93.6%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96.08%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/>
        </p:nvSpPr>
        <p:spPr>
          <a:xfrm>
            <a:off x="457200" y="27432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ბიოლოგიური ინტერპრეტაცია</a:t>
            </a:r>
            <a:endParaRPr/>
          </a:p>
        </p:txBody>
      </p:sp>
      <p:sp>
        <p:nvSpPr>
          <p:cNvPr id="140" name="Google Shape;140;p22"/>
          <p:cNvSpPr txBox="1"/>
          <p:nvPr/>
        </p:nvSpPr>
        <p:spPr>
          <a:xfrm>
            <a:off x="457200" y="1069730"/>
            <a:ext cx="8229600" cy="30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გენური ონტოლოგიის ანალიზი: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ეპიდერმისის განვითარება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 = 1.97e-12)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კანის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განვითარება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(p = 1.27e-07)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კერატინოციტის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დიფერენციაცია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(p = 2.57e-06)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 Enrichment Analysis</a:t>
            </a:r>
            <a:endParaRPr/>
          </a:p>
        </p:txBody>
      </p:sp>
      <p:pic>
        <p:nvPicPr>
          <p:cNvPr descr="go_enrichment_up_lusc.png" id="146" name="Google Shape;14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914400"/>
            <a:ext cx="7315200" cy="484130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 upregulated in LUSC show keratinocyte/epidermis enrichment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/>
        </p:nvSpPr>
        <p:spPr>
          <a:xfrm>
            <a:off x="457200" y="274320"/>
            <a:ext cx="82296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რა მოხდება თუ მოდელს გადავცემთ არა ფილტვის კიბოვან გენებს?</a:t>
            </a:r>
            <a:endParaRPr/>
          </a:p>
        </p:txBody>
      </p:sp>
      <p:sp>
        <p:nvSpPr>
          <p:cNvPr id="153" name="Google Shape;153;p24"/>
          <p:cNvSpPr txBox="1"/>
          <p:nvPr/>
        </p:nvSpPr>
        <p:spPr>
          <a:xfrm>
            <a:off x="457200" y="1097280"/>
            <a:ext cx="82296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შედეგი: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Lung cancer samples: 78% accepted (correctly classified)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Breast cancer samples: 98% rejected as outliers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Normal lung tissue: 98% ACCEPTED (not rejected!)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დასკვნა: ეს ალგორითმი იმუშავებს მხოლოდ და მხოლოდ იმ შემთხვევაში თუ ინფუთი მართლა ამ ორი კიბოს ტიპიდან ერთერთია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Outlier Detection Results</a:t>
            </a:r>
            <a:endParaRPr/>
          </a:p>
        </p:txBody>
      </p:sp>
      <p:pic>
        <p:nvPicPr>
          <p:cNvPr descr="outlier_detection_summary.png" id="159" name="Google Shape;15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914400"/>
            <a:ext cx="7315200" cy="284887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5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 lung tissue is accepted because it's the same organ, not because it's non-cancerous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/>
        </p:nvSpPr>
        <p:spPr>
          <a:xfrm>
            <a:off x="457200" y="27432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დასკვნა</a:t>
            </a:r>
            <a:endParaRPr/>
          </a:p>
        </p:txBody>
      </p:sp>
      <p:sp>
        <p:nvSpPr>
          <p:cNvPr id="166" name="Google Shape;166;p26"/>
          <p:cNvSpPr txBox="1"/>
          <p:nvPr/>
        </p:nvSpPr>
        <p:spPr>
          <a:xfrm>
            <a:off x="347050" y="1351050"/>
            <a:ext cx="82296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ჰიპოთეზა დადასტურებულია: მეთოდი მუშაობს ფილტვის კიბოზეც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Lung cancer: 98.04% test / 94.61% validation accuracy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იმპლემენტაცია ვალიდურია, რეპროდუქციაზე დაყრდნობით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Breast cancer: 93.6% (vs reported 90%)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ახალი და ლოგიკური აღმოჩენა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მოდელი ვერ განასხვავებს არა-ფილტვის კიბოვან გენებს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 txBox="1"/>
          <p:nvPr/>
        </p:nvSpPr>
        <p:spPr>
          <a:xfrm>
            <a:off x="457200" y="2286000"/>
            <a:ext cx="8229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მადლობა</a:t>
            </a:r>
            <a:endParaRPr/>
          </a:p>
        </p:txBody>
      </p:sp>
      <p:sp>
        <p:nvSpPr>
          <p:cNvPr id="172" name="Google Shape;172;p27"/>
          <p:cNvSpPr txBox="1"/>
          <p:nvPr/>
        </p:nvSpPr>
        <p:spPr>
          <a:xfrm>
            <a:off x="457200" y="3657600"/>
            <a:ext cx="822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კითხვები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